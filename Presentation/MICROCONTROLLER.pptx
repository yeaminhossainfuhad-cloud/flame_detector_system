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21"/>
  </p:notesMasterIdLst>
  <p:handoutMasterIdLst>
    <p:handoutMasterId r:id="rId22"/>
  </p:handoutMasterIdLst>
  <p:sldIdLst>
    <p:sldId id="256" r:id="rId5"/>
    <p:sldId id="268" r:id="rId6"/>
    <p:sldId id="269" r:id="rId7"/>
    <p:sldId id="257" r:id="rId8"/>
    <p:sldId id="258" r:id="rId9"/>
    <p:sldId id="259" r:id="rId10"/>
    <p:sldId id="260" r:id="rId11"/>
    <p:sldId id="261" r:id="rId12"/>
    <p:sldId id="262" r:id="rId13"/>
    <p:sldId id="263" r:id="rId14"/>
    <p:sldId id="264" r:id="rId15"/>
    <p:sldId id="270" r:id="rId16"/>
    <p:sldId id="271" r:id="rId17"/>
    <p:sldId id="272" r:id="rId18"/>
    <p:sldId id="267" r:id="rId19"/>
    <p:sldId id="26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4660"/>
  </p:normalViewPr>
  <p:slideViewPr>
    <p:cSldViewPr snapToGrid="0">
      <p:cViewPr varScale="1">
        <p:scale>
          <a:sx n="64" d="100"/>
          <a:sy n="64" d="100"/>
        </p:scale>
        <p:origin x="765" y="39"/>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1/2/2025</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1/2/2025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smtClean="0"/>
              <a:t>Click to edit Master subtitle style</a:t>
            </a:r>
            <a:endParaRPr lang="en-US" noProof="0"/>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smtClean="0"/>
              <a:t>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smtClean="0"/>
              <a:t>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a:p>
            <a:pPr lvl="1"/>
            <a:r>
              <a:rPr lang="en-US" noProof="0" smtClean="0"/>
              <a:t>Second level</a:t>
            </a:r>
          </a:p>
          <a:p>
            <a:pPr lvl="2"/>
            <a:r>
              <a:rPr lang="en-US" noProof="0" smtClean="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smtClean="0"/>
              <a:t>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smtClean="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smtClean="0"/>
              <a:t>Click to edit Master title style</a:t>
            </a:r>
            <a:endParaRPr lang="en-US" noProof="0"/>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pPr algn="ctr"/>
            <a:r>
              <a:rPr lang="en-US" sz="2800" dirty="0">
                <a:solidFill>
                  <a:schemeClr val="bg1"/>
                </a:solidFill>
                <a:latin typeface="Arial" panose="020B0604020202020204" pitchFamily="34" charset="0"/>
              </a:rPr>
              <a:t>Dhaka Polytechnic Institute</a:t>
            </a:r>
            <a:r>
              <a:rPr lang="en-US" sz="2800" dirty="0">
                <a:solidFill>
                  <a:schemeClr val="bg1"/>
                </a:solidFill>
              </a:rPr>
              <a:t/>
            </a:r>
            <a:br>
              <a:rPr lang="en-US" sz="2800" dirty="0">
                <a:solidFill>
                  <a:schemeClr val="bg1"/>
                </a:solidFill>
              </a:rPr>
            </a:br>
            <a:r>
              <a:rPr lang="en-US" sz="2800" dirty="0" err="1">
                <a:solidFill>
                  <a:schemeClr val="bg1"/>
                </a:solidFill>
                <a:latin typeface="Arial" panose="020B0604020202020204" pitchFamily="34" charset="0"/>
              </a:rPr>
              <a:t>Tejgaon</a:t>
            </a:r>
            <a:r>
              <a:rPr lang="en-US" sz="2800" dirty="0">
                <a:solidFill>
                  <a:schemeClr val="bg1"/>
                </a:solidFill>
                <a:latin typeface="Arial" panose="020B0604020202020204" pitchFamily="34" charset="0"/>
              </a:rPr>
              <a:t>, Dhaka.</a:t>
            </a:r>
            <a:r>
              <a:rPr lang="en-US" sz="2800" dirty="0">
                <a:solidFill>
                  <a:schemeClr val="bg1"/>
                </a:solidFill>
              </a:rPr>
              <a:t/>
            </a:r>
            <a:br>
              <a:rPr lang="en-US" sz="2800" dirty="0">
                <a:solidFill>
                  <a:schemeClr val="bg1"/>
                </a:solidFill>
              </a:rPr>
            </a:br>
            <a:r>
              <a:rPr lang="en-US" sz="2000" dirty="0">
                <a:solidFill>
                  <a:schemeClr val="bg1"/>
                </a:solidFill>
              </a:rPr>
              <a:t/>
            </a:r>
            <a:br>
              <a:rPr lang="en-US" sz="2000" dirty="0">
                <a:solidFill>
                  <a:schemeClr val="bg1"/>
                </a:solidFill>
              </a:rPr>
            </a:br>
            <a:r>
              <a:rPr lang="en-US" sz="2000" dirty="0">
                <a:solidFill>
                  <a:schemeClr val="bg1"/>
                </a:solidFill>
                <a:latin typeface="Arial" panose="020B0604020202020204" pitchFamily="34" charset="0"/>
              </a:rPr>
              <a:t>Computer Science &amp; Technology</a:t>
            </a:r>
            <a:r>
              <a:rPr lang="en-US" sz="2000" dirty="0">
                <a:solidFill>
                  <a:schemeClr val="bg1"/>
                </a:solidFill>
              </a:rPr>
              <a:t/>
            </a:r>
            <a:br>
              <a:rPr lang="en-US" sz="2000" dirty="0">
                <a:solidFill>
                  <a:schemeClr val="bg1"/>
                </a:solidFill>
              </a:rPr>
            </a:br>
            <a:r>
              <a:rPr lang="en-US" sz="2000" dirty="0">
                <a:solidFill>
                  <a:schemeClr val="bg1"/>
                </a:solidFill>
                <a:latin typeface="Arial" panose="020B0604020202020204" pitchFamily="34" charset="0"/>
              </a:rPr>
              <a:t>Microcontroller Based System Design &amp; Development</a:t>
            </a:r>
            <a:r>
              <a:rPr lang="en-US" sz="2000" dirty="0">
                <a:solidFill>
                  <a:schemeClr val="bg1"/>
                </a:solidFill>
              </a:rPr>
              <a:t/>
            </a:r>
            <a:br>
              <a:rPr lang="en-US" sz="2000" dirty="0">
                <a:solidFill>
                  <a:schemeClr val="bg1"/>
                </a:solidFill>
              </a:rPr>
            </a:br>
            <a:r>
              <a:rPr lang="en-US" sz="2000" dirty="0">
                <a:solidFill>
                  <a:schemeClr val="bg1"/>
                </a:solidFill>
                <a:latin typeface="Arial" panose="020B0604020202020204" pitchFamily="34" charset="0"/>
              </a:rPr>
              <a:t>Project : Flame Detector System</a:t>
            </a:r>
            <a:r>
              <a:rPr lang="en-US" sz="2000" dirty="0">
                <a:solidFill>
                  <a:schemeClr val="bg1"/>
                </a:solidFill>
              </a:rPr>
              <a:t/>
            </a:r>
            <a:br>
              <a:rPr lang="en-US" sz="2000" dirty="0">
                <a:solidFill>
                  <a:schemeClr val="bg1"/>
                </a:solidFill>
              </a:rPr>
            </a:br>
            <a:r>
              <a:rPr lang="en-US" sz="2000" dirty="0">
                <a:solidFill>
                  <a:schemeClr val="bg1"/>
                </a:solidFill>
              </a:rPr>
              <a:t/>
            </a:r>
            <a:br>
              <a:rPr lang="en-US" sz="2000" dirty="0">
                <a:solidFill>
                  <a:schemeClr val="bg1"/>
                </a:solidFill>
              </a:rPr>
            </a:br>
            <a:r>
              <a:rPr lang="en-US" sz="2000" dirty="0">
                <a:solidFill>
                  <a:schemeClr val="bg1"/>
                </a:solidFill>
                <a:latin typeface="Arial" panose="020B0604020202020204" pitchFamily="34" charset="0"/>
              </a:rPr>
              <a:t>Submitted To,</a:t>
            </a:r>
            <a:r>
              <a:rPr lang="en-US" sz="2000" dirty="0">
                <a:solidFill>
                  <a:schemeClr val="bg1"/>
                </a:solidFill>
              </a:rPr>
              <a:t/>
            </a:r>
            <a:br>
              <a:rPr lang="en-US" sz="2000" dirty="0">
                <a:solidFill>
                  <a:schemeClr val="bg1"/>
                </a:solidFill>
              </a:rPr>
            </a:br>
            <a:r>
              <a:rPr lang="en-US" sz="2000" dirty="0" err="1" smtClean="0">
                <a:solidFill>
                  <a:schemeClr val="bg1"/>
                </a:solidFill>
                <a:latin typeface="Arial" panose="020B0604020202020204" pitchFamily="34" charset="0"/>
              </a:rPr>
              <a:t>Afroja</a:t>
            </a:r>
            <a:r>
              <a:rPr lang="en-US" sz="2000" dirty="0" smtClean="0">
                <a:solidFill>
                  <a:schemeClr val="bg1"/>
                </a:solidFill>
                <a:latin typeface="Arial" panose="020B0604020202020204" pitchFamily="34" charset="0"/>
              </a:rPr>
              <a:t> </a:t>
            </a:r>
            <a:r>
              <a:rPr lang="en-US" sz="2000" dirty="0">
                <a:solidFill>
                  <a:schemeClr val="bg1"/>
                </a:solidFill>
                <a:latin typeface="Arial" panose="020B0604020202020204" pitchFamily="34" charset="0"/>
              </a:rPr>
              <a:t>Begum</a:t>
            </a:r>
            <a:r>
              <a:rPr lang="en-US" sz="2000" dirty="0">
                <a:solidFill>
                  <a:schemeClr val="bg1"/>
                </a:solidFill>
              </a:rPr>
              <a:t/>
            </a:r>
            <a:br>
              <a:rPr lang="en-US" sz="2000" dirty="0">
                <a:solidFill>
                  <a:schemeClr val="bg1"/>
                </a:solidFill>
              </a:rPr>
            </a:br>
            <a:r>
              <a:rPr lang="en-US" sz="2000" dirty="0">
                <a:solidFill>
                  <a:schemeClr val="bg1"/>
                </a:solidFill>
                <a:latin typeface="Arial" panose="020B0604020202020204" pitchFamily="34" charset="0"/>
              </a:rPr>
              <a:t>Instructor, CST</a:t>
            </a:r>
            <a:r>
              <a:rPr lang="en-US" sz="2000" dirty="0">
                <a:solidFill>
                  <a:schemeClr val="bg1"/>
                </a:solidFill>
              </a:rPr>
              <a:t/>
            </a:r>
            <a:br>
              <a:rPr lang="en-US" sz="2000" dirty="0">
                <a:solidFill>
                  <a:schemeClr val="bg1"/>
                </a:solidFill>
              </a:rPr>
            </a:br>
            <a:r>
              <a:rPr lang="en-US" sz="2000" dirty="0">
                <a:solidFill>
                  <a:schemeClr val="bg1"/>
                </a:solidFill>
                <a:latin typeface="Arial" panose="020B0604020202020204" pitchFamily="34" charset="0"/>
              </a:rPr>
              <a:t>Dhaka Polytechnic Institute</a:t>
            </a:r>
            <a:endParaRPr lang="en-US" sz="2000" dirty="0">
              <a:solidFill>
                <a:schemeClr val="bg1"/>
              </a:solidFill>
            </a:endParaRPr>
          </a:p>
        </p:txBody>
      </p:sp>
      <p:sp>
        <p:nvSpPr>
          <p:cNvPr id="3" name="Subtitle 2">
            <a:extLst>
              <a:ext uri="{FF2B5EF4-FFF2-40B4-BE49-F238E27FC236}">
                <a16:creationId xmlns:a16="http://schemas.microsoft.com/office/drawing/2014/main" id="{0D537F64-4C96-4AA8-BB21-E8053A3186DD}"/>
              </a:ext>
            </a:extLst>
          </p:cNvPr>
          <p:cNvSpPr>
            <a:spLocks noGrp="1"/>
          </p:cNvSpPr>
          <p:nvPr>
            <p:ph type="subTitle" idx="1"/>
          </p:nvPr>
        </p:nvSpPr>
        <p:spPr/>
        <p:txBody>
          <a:bodyPr>
            <a:noAutofit/>
          </a:bodyPr>
          <a:lstStyle/>
          <a:p>
            <a:pPr algn="ctr"/>
            <a:r>
              <a:rPr lang="en-US" sz="2000" dirty="0"/>
              <a:t>Submitted By</a:t>
            </a:r>
            <a:br>
              <a:rPr lang="en-US" sz="2000" dirty="0"/>
            </a:br>
            <a:r>
              <a:rPr lang="en-US" sz="2000" dirty="0"/>
              <a:t>CST/6th/1st/A Session: 2021-22</a:t>
            </a:r>
            <a:br>
              <a:rPr lang="en-US" sz="2000" dirty="0"/>
            </a:br>
            <a:r>
              <a:rPr lang="en-US" sz="2000" dirty="0"/>
              <a:t>Project </a:t>
            </a:r>
            <a:r>
              <a:rPr lang="en-US" sz="2000" dirty="0" smtClean="0"/>
              <a:t>Group-01</a:t>
            </a:r>
          </a:p>
          <a:p>
            <a:r>
              <a:rPr lang="en-US" sz="2000" dirty="0" smtClean="0"/>
              <a:t>641367(Leader</a:t>
            </a:r>
            <a:r>
              <a:rPr lang="en-US" sz="2000" dirty="0"/>
              <a:t>)</a:t>
            </a:r>
            <a:br>
              <a:rPr lang="en-US" sz="2000" dirty="0"/>
            </a:br>
            <a:r>
              <a:rPr lang="en-US" sz="2000" dirty="0" smtClean="0"/>
              <a:t>658674	 658676	 658677	 </a:t>
            </a:r>
            <a:r>
              <a:rPr lang="en-US" sz="2000" dirty="0"/>
              <a:t>658684</a:t>
            </a:r>
            <a:br>
              <a:rPr lang="en-US" sz="2000" dirty="0"/>
            </a:br>
            <a:r>
              <a:rPr lang="en-US" sz="2000" dirty="0" smtClean="0"/>
              <a:t>658679	 658659	 658670	 </a:t>
            </a:r>
            <a:r>
              <a:rPr lang="en-US" sz="2000" dirty="0"/>
              <a:t>658685</a:t>
            </a:r>
            <a:br>
              <a:rPr lang="en-US" sz="2000" dirty="0"/>
            </a:br>
            <a:r>
              <a:rPr lang="en-US" sz="2000" dirty="0" smtClean="0"/>
              <a:t>658683	 658678	 658660	 </a:t>
            </a:r>
            <a:r>
              <a:rPr lang="en-US" sz="2000" dirty="0"/>
              <a:t>658672</a:t>
            </a:r>
            <a:br>
              <a:rPr lang="en-US" sz="2000" dirty="0"/>
            </a:br>
            <a:r>
              <a:rPr lang="en-US" sz="2000" dirty="0" smtClean="0"/>
              <a:t>658662	 658680	 658681	 658669</a:t>
            </a:r>
            <a:br>
              <a:rPr lang="en-US" sz="2000" dirty="0" smtClean="0"/>
            </a:br>
            <a:r>
              <a:rPr lang="en-US" sz="2000" dirty="0" smtClean="0"/>
              <a:t>658673	 658663	 658661</a:t>
            </a:r>
            <a:endParaRPr lang="en-US" sz="2000" dirty="0"/>
          </a:p>
        </p:txBody>
      </p:sp>
      <p:sp>
        <p:nvSpPr>
          <p:cNvPr id="4" name="Oval 3"/>
          <p:cNvSpPr/>
          <p:nvPr/>
        </p:nvSpPr>
        <p:spPr>
          <a:xfrm>
            <a:off x="2761488" y="14992"/>
            <a:ext cx="1064302" cy="1064302"/>
          </a:xfrm>
          <a:prstGeom prst="ellipse">
            <a:avLst/>
          </a:prstGeom>
          <a:blipFill dpi="0" rotWithShape="1">
            <a:blip r:embed="rId2">
              <a:extLst>
                <a:ext uri="{28A0092B-C50C-407E-A947-70E740481C1C}">
                  <a14:useLocalDpi xmlns:a14="http://schemas.microsoft.com/office/drawing/2010/main" val="0"/>
                </a:ext>
              </a:extLst>
            </a:blip>
            <a:srcRect/>
            <a:stretch>
              <a:fillRect/>
            </a:stretch>
          </a:blip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94693459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4500" y="535430"/>
            <a:ext cx="11214100" cy="535531"/>
          </a:xfrm>
        </p:spPr>
        <p:txBody>
          <a:bodyPr/>
          <a:lstStyle/>
          <a:p>
            <a:pPr algn="ctr"/>
            <a:r>
              <a:rPr lang="en-US" dirty="0">
                <a:latin typeface="Arial" panose="020B0604020202020204" pitchFamily="34" charset="0"/>
              </a:rPr>
              <a:t>Flame Detector </a:t>
            </a:r>
            <a:r>
              <a:rPr lang="en-US" dirty="0" smtClean="0">
                <a:latin typeface="Arial" panose="020B0604020202020204" pitchFamily="34" charset="0"/>
              </a:rPr>
              <a:t>System </a:t>
            </a:r>
            <a:r>
              <a:rPr lang="as-IN" dirty="0">
                <a:latin typeface="Arial" panose="020B0604020202020204" pitchFamily="34" charset="0"/>
              </a:rPr>
              <a:t>এর উদ্দেশ্য</a:t>
            </a:r>
            <a:endParaRPr lang="en-US" dirty="0"/>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2</a:t>
            </a:fld>
            <a:endParaRPr lang="en-US" noProof="0" dirty="0"/>
          </a:p>
        </p:txBody>
      </p:sp>
      <p:sp>
        <p:nvSpPr>
          <p:cNvPr id="4" name="Content Placeholder 3"/>
          <p:cNvSpPr>
            <a:spLocks noGrp="1"/>
          </p:cNvSpPr>
          <p:nvPr>
            <p:ph idx="1"/>
          </p:nvPr>
        </p:nvSpPr>
        <p:spPr/>
        <p:txBody>
          <a:bodyPr/>
          <a:lstStyle/>
          <a:p>
            <a:pPr marL="0" indent="0">
              <a:buNone/>
            </a:pPr>
            <a:r>
              <a:rPr lang="en-US" dirty="0"/>
              <a:t>Flame detector system </a:t>
            </a:r>
            <a:r>
              <a:rPr lang="as-IN" dirty="0"/>
              <a:t>এর উদ্দেশ্য হলো আগুন বা শিখা সনাক্ত করা এবং সেগুলি দ্রুতভাবে শনাক্ত করে সুরক্ষা ব্যবস্থা চালু করা</a:t>
            </a:r>
            <a:r>
              <a:rPr lang="as-IN" dirty="0" smtClean="0"/>
              <a:t>।</a:t>
            </a:r>
            <a:r>
              <a:rPr lang="en-US" dirty="0" smtClean="0"/>
              <a:t> </a:t>
            </a:r>
            <a:r>
              <a:rPr lang="as-IN" dirty="0"/>
              <a:t>এটির মূল উদ্দেশ্যগুলি হলো</a:t>
            </a:r>
            <a:r>
              <a:rPr lang="as-IN" dirty="0" smtClean="0"/>
              <a:t>:</a:t>
            </a:r>
            <a:endParaRPr lang="en-US" dirty="0" smtClean="0"/>
          </a:p>
          <a:p>
            <a:r>
              <a:rPr lang="as-IN" dirty="0"/>
              <a:t>আগুনের </a:t>
            </a:r>
            <a:r>
              <a:rPr lang="as-IN" dirty="0" smtClean="0"/>
              <a:t>সনাক্তকরণ</a:t>
            </a:r>
            <a:endParaRPr lang="en-US" dirty="0" smtClean="0"/>
          </a:p>
          <a:p>
            <a:r>
              <a:rPr lang="as-IN" dirty="0"/>
              <a:t>অগ্নি-নিরাপত্তা </a:t>
            </a:r>
            <a:r>
              <a:rPr lang="as-IN" dirty="0" smtClean="0"/>
              <a:t>নিশ্চিতকরণ</a:t>
            </a:r>
            <a:endParaRPr lang="en-US" dirty="0" smtClean="0"/>
          </a:p>
          <a:p>
            <a:r>
              <a:rPr lang="as-IN" dirty="0"/>
              <a:t>স্বয়ংক্রিয় </a:t>
            </a:r>
            <a:r>
              <a:rPr lang="as-IN" dirty="0" smtClean="0"/>
              <a:t>প্রতিক্রিয়া</a:t>
            </a:r>
            <a:endParaRPr lang="en-US" dirty="0" smtClean="0"/>
          </a:p>
          <a:p>
            <a:r>
              <a:rPr lang="as-IN" dirty="0"/>
              <a:t>মানব জীবন এবং সম্পত্তির সুরক্ষা</a:t>
            </a:r>
          </a:p>
        </p:txBody>
      </p:sp>
    </p:spTree>
    <p:extLst>
      <p:ext uri="{BB962C8B-B14F-4D97-AF65-F5344CB8AC3E}">
        <p14:creationId xmlns:p14="http://schemas.microsoft.com/office/powerpoint/2010/main" val="2955401905"/>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Equipment of FLAME DETECTOR SYSTEM:</a:t>
            </a:r>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3</a:t>
            </a:fld>
            <a:endParaRPr lang="en-US" noProof="0" dirty="0"/>
          </a:p>
        </p:txBody>
      </p:sp>
      <p:sp>
        <p:nvSpPr>
          <p:cNvPr id="4" name="Content Placeholder 3"/>
          <p:cNvSpPr>
            <a:spLocks noGrp="1"/>
          </p:cNvSpPr>
          <p:nvPr>
            <p:ph idx="1"/>
          </p:nvPr>
        </p:nvSpPr>
        <p:spPr/>
        <p:txBody>
          <a:bodyPr/>
          <a:lstStyle/>
          <a:p>
            <a:pPr marL="0" indent="0">
              <a:buNone/>
            </a:pPr>
            <a:r>
              <a:rPr lang="en-US" dirty="0" smtClean="0"/>
              <a:t>1.Arduino Uno</a:t>
            </a:r>
          </a:p>
          <a:p>
            <a:pPr marL="0" indent="0">
              <a:buNone/>
            </a:pPr>
            <a:r>
              <a:rPr lang="en-US" dirty="0" smtClean="0"/>
              <a:t>2.Breadboard</a:t>
            </a:r>
          </a:p>
          <a:p>
            <a:pPr marL="0" indent="0">
              <a:buNone/>
            </a:pPr>
            <a:r>
              <a:rPr lang="en-US" dirty="0" smtClean="0"/>
              <a:t>3.Flame Detector Sensor</a:t>
            </a:r>
          </a:p>
          <a:p>
            <a:pPr marL="0" indent="0">
              <a:buNone/>
            </a:pPr>
            <a:r>
              <a:rPr lang="en-US" dirty="0" smtClean="0"/>
              <a:t>4.LED </a:t>
            </a:r>
            <a:r>
              <a:rPr lang="en-US" dirty="0"/>
              <a:t>&amp; </a:t>
            </a:r>
            <a:r>
              <a:rPr lang="en-US" dirty="0" err="1" smtClean="0"/>
              <a:t>Registor</a:t>
            </a:r>
            <a:endParaRPr lang="en-US" dirty="0" smtClean="0"/>
          </a:p>
          <a:p>
            <a:pPr marL="0" indent="0">
              <a:buNone/>
            </a:pPr>
            <a:r>
              <a:rPr lang="en-US" dirty="0" smtClean="0"/>
              <a:t>5.Buzzer </a:t>
            </a:r>
            <a:r>
              <a:rPr lang="en-US" dirty="0" err="1"/>
              <a:t>A</a:t>
            </a:r>
            <a:r>
              <a:rPr lang="en-US" dirty="0" err="1" smtClean="0"/>
              <a:t>lam</a:t>
            </a:r>
            <a:endParaRPr lang="en-US" dirty="0" smtClean="0"/>
          </a:p>
          <a:p>
            <a:pPr marL="0" indent="0">
              <a:buNone/>
            </a:pPr>
            <a:r>
              <a:rPr lang="en-US" dirty="0" smtClean="0"/>
              <a:t>6.Jumper</a:t>
            </a:r>
            <a:r>
              <a:rPr lang="en-US" dirty="0"/>
              <a:t> Cable</a:t>
            </a:r>
          </a:p>
        </p:txBody>
      </p:sp>
    </p:spTree>
    <p:extLst>
      <p:ext uri="{BB962C8B-B14F-4D97-AF65-F5344CB8AC3E}">
        <p14:creationId xmlns:p14="http://schemas.microsoft.com/office/powerpoint/2010/main" val="4135406676"/>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p:txBody>
          <a:bodyPr/>
          <a:lstStyle/>
          <a:p>
            <a:pPr algn="ctr"/>
            <a:r>
              <a:rPr lang="en-US" dirty="0" smtClean="0"/>
              <a:t>Arduino Uno</a:t>
            </a:r>
            <a:endParaRPr lang="en-US" dirty="0"/>
          </a:p>
        </p:txBody>
      </p:sp>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4</a:t>
            </a:fld>
            <a:endParaRPr lang="en-US" dirty="0"/>
          </a:p>
        </p:txBody>
      </p:sp>
      <p:pic>
        <p:nvPicPr>
          <p:cNvPr id="3" name="Content Placeholder 2"/>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30586" y="1825625"/>
            <a:ext cx="8440341" cy="4351338"/>
          </a:xfrm>
        </p:spPr>
      </p:pic>
    </p:spTree>
    <p:extLst>
      <p:ext uri="{BB962C8B-B14F-4D97-AF65-F5344CB8AC3E}">
        <p14:creationId xmlns:p14="http://schemas.microsoft.com/office/powerpoint/2010/main" val="290279431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Breadboard</a:t>
            </a:r>
            <a:endParaRPr lang="en-US" dirty="0"/>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5</a:t>
            </a:fld>
            <a:endParaRPr lang="en-US" noProof="0"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63995" y="1825625"/>
            <a:ext cx="6173523" cy="4351338"/>
          </a:xfrm>
        </p:spPr>
      </p:pic>
    </p:spTree>
    <p:extLst>
      <p:ext uri="{BB962C8B-B14F-4D97-AF65-F5344CB8AC3E}">
        <p14:creationId xmlns:p14="http://schemas.microsoft.com/office/powerpoint/2010/main" val="205665930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Flame </a:t>
            </a:r>
            <a:r>
              <a:rPr lang="en-US" dirty="0" smtClean="0"/>
              <a:t>Detector Sensor </a:t>
            </a:r>
            <a:endParaRPr lang="en-US" dirty="0"/>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6</a:t>
            </a:fld>
            <a:endParaRPr lang="en-US" noProof="0"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02756" y="2982119"/>
            <a:ext cx="6096000" cy="2038350"/>
          </a:xfrm>
        </p:spPr>
      </p:pic>
    </p:spTree>
    <p:extLst>
      <p:ext uri="{BB962C8B-B14F-4D97-AF65-F5344CB8AC3E}">
        <p14:creationId xmlns:p14="http://schemas.microsoft.com/office/powerpoint/2010/main" val="305207895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Buzzer</a:t>
            </a:r>
            <a:endParaRPr lang="en-US" dirty="0"/>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7</a:t>
            </a:fld>
            <a:endParaRPr lang="en-US" noProof="0"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98156" y="2196306"/>
            <a:ext cx="3505200" cy="3609975"/>
          </a:xfrm>
        </p:spPr>
      </p:pic>
    </p:spTree>
    <p:extLst>
      <p:ext uri="{BB962C8B-B14F-4D97-AF65-F5344CB8AC3E}">
        <p14:creationId xmlns:p14="http://schemas.microsoft.com/office/powerpoint/2010/main" val="243754907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LED &amp; Resistor</a:t>
            </a:r>
            <a:endParaRPr lang="en-US" dirty="0"/>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8</a:t>
            </a:fld>
            <a:endParaRPr lang="en-US" noProof="0"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76126" y="1825625"/>
            <a:ext cx="4523220" cy="4351338"/>
          </a:xfr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67766" y="2488370"/>
            <a:ext cx="4454220" cy="3117954"/>
          </a:xfrm>
          <a:prstGeom prst="rect">
            <a:avLst/>
          </a:prstGeom>
        </p:spPr>
      </p:pic>
    </p:spTree>
    <p:extLst>
      <p:ext uri="{BB962C8B-B14F-4D97-AF65-F5344CB8AC3E}">
        <p14:creationId xmlns:p14="http://schemas.microsoft.com/office/powerpoint/2010/main" val="1088295534"/>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Jumper Cables</a:t>
            </a:r>
            <a:endParaRPr lang="en-US" dirty="0"/>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9</a:t>
            </a:fld>
            <a:endParaRPr lang="en-US" noProof="0"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27304" y="1825625"/>
            <a:ext cx="4246905" cy="4351338"/>
          </a:xfrm>
        </p:spPr>
      </p:pic>
    </p:spTree>
    <p:extLst>
      <p:ext uri="{BB962C8B-B14F-4D97-AF65-F5344CB8AC3E}">
        <p14:creationId xmlns:p14="http://schemas.microsoft.com/office/powerpoint/2010/main" val="411719513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Hardware Connection</a:t>
            </a:r>
            <a:endParaRPr lang="en-US" dirty="0"/>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10</a:t>
            </a:fld>
            <a:endParaRPr lang="en-US" noProof="0" dirty="0"/>
          </a:p>
        </p:txBody>
      </p:sp>
      <p:sp>
        <p:nvSpPr>
          <p:cNvPr id="10" name="Text Placeholder 9"/>
          <p:cNvSpPr>
            <a:spLocks noGrp="1"/>
          </p:cNvSpPr>
          <p:nvPr>
            <p:ph type="body" sz="quarter" idx="13"/>
          </p:nvPr>
        </p:nvSpPr>
        <p:spPr/>
        <p:txBody>
          <a:bodyPr/>
          <a:lstStyle/>
          <a:p>
            <a:r>
              <a:rPr lang="en-US" sz="3200" dirty="0" smtClean="0"/>
              <a:t>Buzzer1 = Port 2</a:t>
            </a:r>
          </a:p>
          <a:p>
            <a:r>
              <a:rPr lang="en-US" sz="3200" dirty="0" smtClean="0"/>
              <a:t>Buzzer2 = Port 4</a:t>
            </a:r>
            <a:endParaRPr lang="en-US" sz="3200" dirty="0"/>
          </a:p>
          <a:p>
            <a:r>
              <a:rPr lang="en-US" sz="3200" dirty="0" smtClean="0"/>
              <a:t>Flame Sensor = Port 6</a:t>
            </a:r>
          </a:p>
          <a:p>
            <a:r>
              <a:rPr lang="en-US" sz="3200" dirty="0" smtClean="0"/>
              <a:t>LED (serial connection) = Port 13</a:t>
            </a:r>
            <a:endParaRPr lang="en-US" sz="3200" dirty="0"/>
          </a:p>
        </p:txBody>
      </p:sp>
      <p:pic>
        <p:nvPicPr>
          <p:cNvPr id="9" name="Content Placeholder 8"/>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7315209" y="1518330"/>
            <a:ext cx="4765675" cy="4351338"/>
          </a:xfrm>
        </p:spPr>
      </p:pic>
    </p:spTree>
    <p:extLst>
      <p:ext uri="{BB962C8B-B14F-4D97-AF65-F5344CB8AC3E}">
        <p14:creationId xmlns:p14="http://schemas.microsoft.com/office/powerpoint/2010/main" val="17899056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Software Code</a:t>
            </a:r>
            <a:endParaRPr lang="en-US" dirty="0"/>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11</a:t>
            </a:fld>
            <a:endParaRPr lang="en-US" noProof="0" dirty="0"/>
          </a:p>
        </p:txBody>
      </p:sp>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90990" y="1296648"/>
            <a:ext cx="10390098" cy="5000235"/>
          </a:xfrm>
        </p:spPr>
      </p:pic>
    </p:spTree>
    <p:extLst>
      <p:ext uri="{BB962C8B-B14F-4D97-AF65-F5344CB8AC3E}">
        <p14:creationId xmlns:p14="http://schemas.microsoft.com/office/powerpoint/2010/main" val="147938200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4500" y="542925"/>
            <a:ext cx="11214100" cy="978729"/>
          </a:xfrm>
        </p:spPr>
        <p:txBody>
          <a:bodyPr/>
          <a:lstStyle/>
          <a:p>
            <a:pPr algn="ctr"/>
            <a:r>
              <a:rPr lang="en-US" dirty="0"/>
              <a:t>Flame detector system </a:t>
            </a:r>
            <a:r>
              <a:rPr lang="as-IN" dirty="0" smtClean="0"/>
              <a:t>এর</a:t>
            </a:r>
            <a:r>
              <a:rPr lang="en-US" dirty="0" smtClean="0"/>
              <a:t> </a:t>
            </a:r>
            <a:r>
              <a:rPr lang="as-IN" dirty="0" smtClean="0"/>
              <a:t>সুবিধা</a:t>
            </a:r>
            <a:r>
              <a:rPr lang="en-US" dirty="0" smtClean="0"/>
              <a:t> </a:t>
            </a:r>
            <a:r>
              <a:rPr lang="as-IN" dirty="0"/>
              <a:t>ও অসুবিধা</a:t>
            </a:r>
            <a:br>
              <a:rPr lang="as-IN" dirty="0"/>
            </a:br>
            <a:endParaRPr lang="en-US" dirty="0"/>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12</a:t>
            </a:fld>
            <a:endParaRPr lang="en-US" noProof="0"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934005374"/>
              </p:ext>
            </p:extLst>
          </p:nvPr>
        </p:nvGraphicFramePr>
        <p:xfrm>
          <a:off x="442913" y="1825625"/>
          <a:ext cx="11215688" cy="4305354"/>
        </p:xfrm>
        <a:graphic>
          <a:graphicData uri="http://schemas.openxmlformats.org/drawingml/2006/table">
            <a:tbl>
              <a:tblPr firstRow="1" bandRow="1">
                <a:tableStyleId>{5C22544A-7EE6-4342-B048-85BDC9FD1C3A}</a:tableStyleId>
              </a:tblPr>
              <a:tblGrid>
                <a:gridCol w="5607844">
                  <a:extLst>
                    <a:ext uri="{9D8B030D-6E8A-4147-A177-3AD203B41FA5}">
                      <a16:colId xmlns:a16="http://schemas.microsoft.com/office/drawing/2014/main" val="3016683263"/>
                    </a:ext>
                  </a:extLst>
                </a:gridCol>
                <a:gridCol w="5607844">
                  <a:extLst>
                    <a:ext uri="{9D8B030D-6E8A-4147-A177-3AD203B41FA5}">
                      <a16:colId xmlns:a16="http://schemas.microsoft.com/office/drawing/2014/main" val="2438928518"/>
                    </a:ext>
                  </a:extLst>
                </a:gridCol>
              </a:tblGrid>
              <a:tr h="717559">
                <a:tc>
                  <a:txBody>
                    <a:bodyPr/>
                    <a:lstStyle/>
                    <a:p>
                      <a:pPr algn="ctr"/>
                      <a:r>
                        <a:rPr lang="as-IN" sz="3200" dirty="0" smtClean="0"/>
                        <a:t>সুবিধা</a:t>
                      </a:r>
                      <a:endParaRPr lang="as-IN" sz="3200" dirty="0"/>
                    </a:p>
                  </a:txBody>
                  <a:tcPr/>
                </a:tc>
                <a:tc>
                  <a:txBody>
                    <a:bodyPr/>
                    <a:lstStyle/>
                    <a:p>
                      <a:pPr algn="ctr"/>
                      <a:r>
                        <a:rPr lang="as-IN" sz="3600" dirty="0" smtClean="0"/>
                        <a:t>অসুবিধা</a:t>
                      </a:r>
                      <a:endParaRPr lang="en-US" sz="3600" dirty="0"/>
                    </a:p>
                  </a:txBody>
                  <a:tcPr/>
                </a:tc>
                <a:extLst>
                  <a:ext uri="{0D108BD9-81ED-4DB2-BD59-A6C34878D82A}">
                    <a16:rowId xmlns:a16="http://schemas.microsoft.com/office/drawing/2014/main" val="4173321824"/>
                  </a:ext>
                </a:extLst>
              </a:tr>
              <a:tr h="717559">
                <a:tc>
                  <a:txBody>
                    <a:bodyPr/>
                    <a:lstStyle/>
                    <a:p>
                      <a:pPr algn="ctr"/>
                      <a:r>
                        <a:rPr lang="as-IN" dirty="0" smtClean="0"/>
                        <a:t>দ্রুত সনাক্তকরণ</a:t>
                      </a:r>
                      <a:endParaRPr lang="as-IN" dirty="0"/>
                    </a:p>
                  </a:txBody>
                  <a:tcPr/>
                </a:tc>
                <a:tc>
                  <a:txBody>
                    <a:bodyPr/>
                    <a:lstStyle/>
                    <a:p>
                      <a:pPr algn="ctr"/>
                      <a:r>
                        <a:rPr lang="as-IN" dirty="0" smtClean="0"/>
                        <a:t>প্রযুক্তিগত জটিলতা</a:t>
                      </a:r>
                      <a:endParaRPr lang="as-IN" dirty="0"/>
                    </a:p>
                  </a:txBody>
                  <a:tcPr/>
                </a:tc>
                <a:extLst>
                  <a:ext uri="{0D108BD9-81ED-4DB2-BD59-A6C34878D82A}">
                    <a16:rowId xmlns:a16="http://schemas.microsoft.com/office/drawing/2014/main" val="36546272"/>
                  </a:ext>
                </a:extLst>
              </a:tr>
              <a:tr h="717559">
                <a:tc>
                  <a:txBody>
                    <a:bodyPr/>
                    <a:lstStyle/>
                    <a:p>
                      <a:pPr algn="ctr"/>
                      <a:r>
                        <a:rPr lang="as-IN" dirty="0" smtClean="0"/>
                        <a:t>অগ্নিনিরাপত্তা উন্নত করা</a:t>
                      </a:r>
                      <a:endParaRPr lang="as-IN" dirty="0"/>
                    </a:p>
                  </a:txBody>
                  <a:tcPr/>
                </a:tc>
                <a:tc>
                  <a:txBody>
                    <a:bodyPr/>
                    <a:lstStyle/>
                    <a:p>
                      <a:pPr algn="ctr"/>
                      <a:r>
                        <a:rPr lang="as-IN" dirty="0" smtClean="0"/>
                        <a:t>ভুয়া সতর্কতা</a:t>
                      </a:r>
                      <a:endParaRPr lang="as-IN" dirty="0"/>
                    </a:p>
                  </a:txBody>
                  <a:tcPr/>
                </a:tc>
                <a:extLst>
                  <a:ext uri="{0D108BD9-81ED-4DB2-BD59-A6C34878D82A}">
                    <a16:rowId xmlns:a16="http://schemas.microsoft.com/office/drawing/2014/main" val="3100252393"/>
                  </a:ext>
                </a:extLst>
              </a:tr>
              <a:tr h="717559">
                <a:tc>
                  <a:txBody>
                    <a:bodyPr/>
                    <a:lstStyle/>
                    <a:p>
                      <a:pPr algn="ctr"/>
                      <a:r>
                        <a:rPr lang="as-IN" dirty="0" smtClean="0"/>
                        <a:t>স্বয়ংক্রিয় প্রতিক্রিয়া</a:t>
                      </a:r>
                    </a:p>
                  </a:txBody>
                  <a:tcPr/>
                </a:tc>
                <a:tc>
                  <a:txBody>
                    <a:bodyPr/>
                    <a:lstStyle/>
                    <a:p>
                      <a:pPr algn="ctr"/>
                      <a:r>
                        <a:rPr lang="as-IN" dirty="0" smtClean="0"/>
                        <a:t>সীমিত রেঞ্জ</a:t>
                      </a:r>
                      <a:endParaRPr lang="as-IN" dirty="0"/>
                    </a:p>
                  </a:txBody>
                  <a:tcPr/>
                </a:tc>
                <a:extLst>
                  <a:ext uri="{0D108BD9-81ED-4DB2-BD59-A6C34878D82A}">
                    <a16:rowId xmlns:a16="http://schemas.microsoft.com/office/drawing/2014/main" val="2402936345"/>
                  </a:ext>
                </a:extLst>
              </a:tr>
              <a:tr h="717559">
                <a:tc>
                  <a:txBody>
                    <a:bodyPr/>
                    <a:lstStyle/>
                    <a:p>
                      <a:pPr algn="ctr"/>
                      <a:r>
                        <a:rPr lang="as-IN" dirty="0" smtClean="0"/>
                        <a:t>এলাকা বিশেষ সুরক্ষা</a:t>
                      </a:r>
                      <a:endParaRPr lang="as-IN" dirty="0"/>
                    </a:p>
                  </a:txBody>
                  <a:tcPr/>
                </a:tc>
                <a:tc>
                  <a:txBody>
                    <a:bodyPr/>
                    <a:lstStyle/>
                    <a:p>
                      <a:pPr algn="ctr"/>
                      <a:r>
                        <a:rPr lang="as-IN" dirty="0" smtClean="0"/>
                        <a:t>পরিবেশগত প্রভাব</a:t>
                      </a:r>
                      <a:endParaRPr lang="as-IN" dirty="0"/>
                    </a:p>
                  </a:txBody>
                  <a:tcPr/>
                </a:tc>
                <a:extLst>
                  <a:ext uri="{0D108BD9-81ED-4DB2-BD59-A6C34878D82A}">
                    <a16:rowId xmlns:a16="http://schemas.microsoft.com/office/drawing/2014/main" val="1814850451"/>
                  </a:ext>
                </a:extLst>
              </a:tr>
              <a:tr h="717559">
                <a:tc>
                  <a:txBody>
                    <a:bodyPr/>
                    <a:lstStyle/>
                    <a:p>
                      <a:pPr algn="ctr"/>
                      <a:r>
                        <a:rPr lang="as-IN" dirty="0" smtClean="0"/>
                        <a:t>বিশ্বস্ততা</a:t>
                      </a:r>
                      <a:endParaRPr lang="as-IN" dirty="0"/>
                    </a:p>
                  </a:txBody>
                  <a:tcPr/>
                </a:tc>
                <a:tc>
                  <a:txBody>
                    <a:bodyPr/>
                    <a:lstStyle/>
                    <a:p>
                      <a:pPr algn="ctr"/>
                      <a:r>
                        <a:rPr lang="as-IN" dirty="0" smtClean="0"/>
                        <a:t>রক্ষণাবেক্ষণ প্রয়োজন</a:t>
                      </a:r>
                      <a:endParaRPr lang="as-IN" dirty="0"/>
                    </a:p>
                  </a:txBody>
                  <a:tcPr/>
                </a:tc>
                <a:extLst>
                  <a:ext uri="{0D108BD9-81ED-4DB2-BD59-A6C34878D82A}">
                    <a16:rowId xmlns:a16="http://schemas.microsoft.com/office/drawing/2014/main" val="2390813641"/>
                  </a:ext>
                </a:extLst>
              </a:tr>
            </a:tbl>
          </a:graphicData>
        </a:graphic>
      </p:graphicFrame>
    </p:spTree>
    <p:extLst>
      <p:ext uri="{BB962C8B-B14F-4D97-AF65-F5344CB8AC3E}">
        <p14:creationId xmlns:p14="http://schemas.microsoft.com/office/powerpoint/2010/main" val="1988683776"/>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a:t>সীমাবদ্ধতা</a:t>
            </a:r>
            <a:r>
              <a:rPr lang="en-US" dirty="0"/>
              <a:t> (Limitations) of Flame Detector Sensor:</a:t>
            </a:r>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13</a:t>
            </a:fld>
            <a:endParaRPr lang="en-US" noProof="0" dirty="0"/>
          </a:p>
        </p:txBody>
      </p:sp>
      <p:sp>
        <p:nvSpPr>
          <p:cNvPr id="4" name="Content Placeholder 3"/>
          <p:cNvSpPr>
            <a:spLocks noGrp="1"/>
          </p:cNvSpPr>
          <p:nvPr>
            <p:ph idx="1"/>
          </p:nvPr>
        </p:nvSpPr>
        <p:spPr/>
        <p:txBody>
          <a:bodyPr/>
          <a:lstStyle/>
          <a:p>
            <a:r>
              <a:rPr lang="as-IN" dirty="0"/>
              <a:t>ফ্লেম ডিটেক্টর নির্দিষ্ট দূরত্বের মধ্যেই শিখা সনাক্ত করতে পারে। দূরের বা খুব ক্ষুদ্র শিখা সনাক্ত করা কঠিন হতে পারে</a:t>
            </a:r>
            <a:r>
              <a:rPr lang="as-IN" dirty="0" smtClean="0"/>
              <a:t>।</a:t>
            </a:r>
            <a:r>
              <a:rPr lang="en-US" dirty="0" smtClean="0"/>
              <a:t> </a:t>
            </a:r>
            <a:r>
              <a:rPr lang="as-IN" dirty="0" smtClean="0"/>
              <a:t>যেমন</a:t>
            </a:r>
            <a:r>
              <a:rPr lang="en-US" dirty="0" smtClean="0"/>
              <a:t>: </a:t>
            </a:r>
            <a:r>
              <a:rPr lang="as-IN" dirty="0" smtClean="0"/>
              <a:t>ভিউ অ্যাঙ্গেল</a:t>
            </a:r>
            <a:r>
              <a:rPr lang="as-IN" dirty="0"/>
              <a:t> ।</a:t>
            </a:r>
            <a:endParaRPr lang="en-US" dirty="0" smtClean="0"/>
          </a:p>
          <a:p>
            <a:r>
              <a:rPr lang="as-IN" dirty="0"/>
              <a:t>ফ্লেম ডিটেক্টর একটি নির্দিষ্ট কোণ বা ভিউ অ্যাঙ্গেলের মধ্যে কাজ করে। শিখা যদি সেই কোণের বাইরে থাকে তবে ডিটেক্টর সেটি সনাক্ত করতে পারে না</a:t>
            </a:r>
            <a:r>
              <a:rPr lang="as-IN" dirty="0" smtClean="0"/>
              <a:t>।</a:t>
            </a:r>
            <a:r>
              <a:rPr lang="en-US" dirty="0" smtClean="0"/>
              <a:t> </a:t>
            </a:r>
            <a:r>
              <a:rPr lang="as-IN" dirty="0"/>
              <a:t>যেমন</a:t>
            </a:r>
            <a:r>
              <a:rPr lang="en-US" dirty="0"/>
              <a:t>: </a:t>
            </a:r>
            <a:r>
              <a:rPr lang="as-IN" dirty="0" smtClean="0"/>
              <a:t>ভুল এলার্ম</a:t>
            </a:r>
            <a:r>
              <a:rPr lang="as-IN" dirty="0"/>
              <a:t> ।</a:t>
            </a:r>
            <a:endParaRPr lang="en-US" dirty="0" smtClean="0"/>
          </a:p>
          <a:p>
            <a:r>
              <a:rPr lang="as-IN" dirty="0"/>
              <a:t>ফ্লেম ডিটেক্টর নিয়মিত পরিষ্কার ও রক্ষণাবেক্ষণ না করলে, এর সংবেদনশীলতা কমে যেতে পারে</a:t>
            </a:r>
            <a:r>
              <a:rPr lang="as-IN" dirty="0" smtClean="0"/>
              <a:t>।</a:t>
            </a:r>
            <a:endParaRPr lang="en-US" dirty="0" smtClean="0"/>
          </a:p>
          <a:p>
            <a:r>
              <a:rPr lang="as-IN" dirty="0"/>
              <a:t>উন্নত মানের ফ্লেম ডিটেক্টরগুলি ব্যয়বহুল এবং ইনস্টলেশন প্রক্রিয়াও জটিল হতে পারে।</a:t>
            </a:r>
            <a:endParaRPr lang="en-US" dirty="0"/>
          </a:p>
        </p:txBody>
      </p:sp>
    </p:spTree>
    <p:extLst>
      <p:ext uri="{BB962C8B-B14F-4D97-AF65-F5344CB8AC3E}">
        <p14:creationId xmlns:p14="http://schemas.microsoft.com/office/powerpoint/2010/main" val="1040359314"/>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as-IN" dirty="0" smtClean="0"/>
              <a:t>সীমাবদ্ধতার</a:t>
            </a:r>
            <a:r>
              <a:rPr lang="en-US" dirty="0" smtClean="0"/>
              <a:t> </a:t>
            </a:r>
            <a:r>
              <a:rPr lang="as-IN" dirty="0"/>
              <a:t>সমাধান:</a:t>
            </a:r>
            <a:endParaRPr lang="en-US" dirty="0"/>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14</a:t>
            </a:fld>
            <a:endParaRPr lang="en-US" noProof="0" dirty="0"/>
          </a:p>
        </p:txBody>
      </p:sp>
      <p:sp>
        <p:nvSpPr>
          <p:cNvPr id="4" name="Content Placeholder 3"/>
          <p:cNvSpPr>
            <a:spLocks noGrp="1"/>
          </p:cNvSpPr>
          <p:nvPr>
            <p:ph idx="1"/>
          </p:nvPr>
        </p:nvSpPr>
        <p:spPr/>
        <p:txBody>
          <a:bodyPr/>
          <a:lstStyle/>
          <a:p>
            <a:r>
              <a:rPr lang="as-IN" dirty="0"/>
              <a:t>মাল্টি-স্পেকট্রাম ফ্লেম ডিটেক্টর ব্যবহার করে বিভিন্ন ধরণের শিখা সনাক্ত করা যেতে পারে।সেন্সর ক্যালিব্রেশন এবং নিয়মিত পরিদর্শনের মাধ্যমে এর কার্যকারিতা বাড়ানো যায়।ফায়ার ডিটেকশন সিস্টেমের সাথে অন্যান্য সেন্সর (যেমন স্মোক ডিটেক্টর) সমন্বয় করা উচিত।এটি ব্যবহারের মাধ্যমে দ্রুত এবং নির্ভুলভাবে আগুন শনাক্ত করা সম্ভব হলেও, এর সীমাবদ্ধতাগুলো মাথায় রেখে সঠিক পদ্ধতিতে ইনস্টল ও রক্ষণাবেক্ষণ করা প্রয়োজন।</a:t>
            </a:r>
          </a:p>
        </p:txBody>
      </p:sp>
    </p:spTree>
    <p:extLst>
      <p:ext uri="{BB962C8B-B14F-4D97-AF65-F5344CB8AC3E}">
        <p14:creationId xmlns:p14="http://schemas.microsoft.com/office/powerpoint/2010/main" val="290222551"/>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Final Project</a:t>
            </a:r>
            <a:endParaRPr lang="en-US" dirty="0"/>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15</a:t>
            </a:fld>
            <a:endParaRPr lang="en-US" noProof="0"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49864" y="1825625"/>
            <a:ext cx="5801784" cy="4351338"/>
          </a:xfrm>
        </p:spPr>
      </p:pic>
    </p:spTree>
    <p:extLst>
      <p:ext uri="{BB962C8B-B14F-4D97-AF65-F5344CB8AC3E}">
        <p14:creationId xmlns:p14="http://schemas.microsoft.com/office/powerpoint/2010/main" val="205492100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THANK YOU</a:t>
            </a:r>
            <a:endParaRPr lang="en-US" dirty="0"/>
          </a:p>
        </p:txBody>
      </p:sp>
    </p:spTree>
    <p:extLst>
      <p:ext uri="{BB962C8B-B14F-4D97-AF65-F5344CB8AC3E}">
        <p14:creationId xmlns:p14="http://schemas.microsoft.com/office/powerpoint/2010/main" val="15364562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5757914-1161-4661-9696-421FD6935CDD}">
  <ds:schemaRefs>
    <ds:schemaRef ds:uri="http://schemas.microsoft.com/office/2006/metadata/properties"/>
    <ds:schemaRef ds:uri="http://schemas.microsoft.com/office/2006/documentManagement/types"/>
    <ds:schemaRef ds:uri="http://purl.org/dc/elements/1.1/"/>
    <ds:schemaRef ds:uri="http://schemas.microsoft.com/office/infopath/2007/PartnerControls"/>
    <ds:schemaRef ds:uri="http://www.w3.org/XML/1998/namespace"/>
    <ds:schemaRef ds:uri="http://purl.org/dc/dcmitype/"/>
    <ds:schemaRef ds:uri="http://purl.org/dc/terms/"/>
    <ds:schemaRef ds:uri="http://schemas.openxmlformats.org/package/2006/metadata/core-properties"/>
    <ds:schemaRef ds:uri="16c05727-aa75-4e4a-9b5f-8a80a1165891"/>
    <ds:schemaRef ds:uri="71af3243-3dd4-4a8d-8c0d-dd76da1f02a5"/>
  </ds:schemaRefs>
</ds:datastoreItem>
</file>

<file path=customXml/itemProps2.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B26E0C9-B2AA-42E6-97B6-E1B7D9EAF12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0</TotalTime>
  <Words>419</Words>
  <Application>Microsoft Office PowerPoint</Application>
  <PresentationFormat>Widescreen</PresentationFormat>
  <Paragraphs>64</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Tahoma</vt:lpstr>
      <vt:lpstr>Trade Gothic LT Pro</vt:lpstr>
      <vt:lpstr>Trebuchet MS</vt:lpstr>
      <vt:lpstr>Office Theme</vt:lpstr>
      <vt:lpstr>Dhaka Polytechnic Institute Tejgaon, Dhaka.  Computer Science &amp; Technology Microcontroller Based System Design &amp; Development Project : Flame Detector System  Submitted To, Afroja Begum Instructor, CST Dhaka Polytechnic Institute</vt:lpstr>
      <vt:lpstr>Flame Detector System এর উদ্দেশ্য</vt:lpstr>
      <vt:lpstr>Equipment of FLAME DETECTOR SYSTEM:</vt:lpstr>
      <vt:lpstr>Arduino Uno</vt:lpstr>
      <vt:lpstr>Breadboard</vt:lpstr>
      <vt:lpstr>Flame Detector Sensor </vt:lpstr>
      <vt:lpstr>Buzzer</vt:lpstr>
      <vt:lpstr>LED &amp; Resistor</vt:lpstr>
      <vt:lpstr>Jumper Cables</vt:lpstr>
      <vt:lpstr>Hardware Connection</vt:lpstr>
      <vt:lpstr>Software Code</vt:lpstr>
      <vt:lpstr>Flame detector system এর সুবিধা ও অসুবিধা </vt:lpstr>
      <vt:lpstr>সীমাবদ্ধতা (Limitations) of Flame Detector Sensor:</vt:lpstr>
      <vt:lpstr>সীমাবদ্ধতার সমাধান:</vt:lpstr>
      <vt:lpstr>Final Project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2024-11-20T16:00:18Z</dcterms:created>
  <dcterms:modified xsi:type="dcterms:W3CDTF">2025-01-02T05:13:58Z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